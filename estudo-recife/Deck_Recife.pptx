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74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CLUBE.ORG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Praça: Recife (RMR)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Zona Norte e Zona Sul, abastecido pelo cinturão orgânico de Glória do Goitá e Zona da Mata Pernambucana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ao Plano de Negócios e ao comparativo de capitais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para investidores e consultores  |  Agosto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PARA RECIFE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concentrada + categoria já aceita + fornecedor perto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Bolsão de renda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Norte e Zona Sul concentram a renda alta do Recife — público compatível com o ticket do modelo, mesmo com a renda média estadual mais baixa.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 validada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tem a maior penetração de orgânicos do Brasil (45% dos domicílios) e um concorrente local operando há 10+ anos.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240280"/>
            <a:ext cx="502920" cy="50292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Fornecedor a 65km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38328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Glória do Goitá e outros municípios da Zona da Mata formam um cinturão orgânico documentado, parte dele já dentro da RMR.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Norte e Zona Sul: onde a renda alta do Recife se concentra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Sul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Viagem, Pina, Setúbal, Imbiribeira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concentração de renda alta da cidade — perfil de condomínio fechado, praia de Boa Viagem, shoppings.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57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Norte / Noroeste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Forte, Casa Amarela, Graças, Aflitos, Derby, Espinheiro, Jaqueira, Parnamirim, Poço da Panela, Tamarineira, Torre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93192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bolsão de alta renda — perfil arborizado, caminhável, também de alto poder de compra.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Oeste (Afogados, San Martin, Cordeiro, Prado) fica fora do escopo inicial — perfil de renda mais popular.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nova fronteira dos orgânicos no Brasil" — CNN Brasil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920240" cy="19202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7129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76579" y="326257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penetração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orgânicos no Nordeste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maior do país)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2148840"/>
            <a:ext cx="1920240" cy="192024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257129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1,59 mi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99739" y="326257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Recife (2025)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2148840"/>
            <a:ext cx="1920240" cy="19202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257129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3,96 mi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22899" y="326257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do Recife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2148840"/>
            <a:ext cx="1920240" cy="192024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71293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46059" y="3262579"/>
            <a:ext cx="161300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em produtores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venda direta (OCS)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CNN Brasil (Agro); IBGE (estimativas de população 2025); LivUp — maiores produtores orgânicos do Brasil.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supera Sudeste (30%) e Centro-Oeste (42%) em penetração de consumo — mesmo mercado que já validou o modelo de assinatura, com espaço para profissionalizar a categoria.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concorrente validando o modelo há mais de 10 anos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 a Porta Orgânicos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2014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16382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Recife, Região Metropolitana e Paraíba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75818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até sexta-feira, entrega sábado de manhã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35254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manual (WhatsApp/telefone), sem app próprio identificado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303520" cy="3566160"/>
          </a:xfrm>
          <a:prstGeom prst="roundRect">
            <a:avLst>
              <a:gd name="adj" fmla="val 2564"/>
            </a:avLst>
          </a:prstGeom>
          <a:solidFill>
            <a:srgbClr val="1F3D24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ESTRATÉGICA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5146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anos de operação provam demanda real e sustentável — reduz o maior risco de qualquer investidor.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das praças "brancas" do comparativo original, aqui a diferenciação (app, curadoria de sazonalidade, experiência de assinatura) precisa existir desde o dia 1.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EM 100KM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cinturão orgânico da Zona da Mata Pernambucana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14630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cinturão orgânico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377440" cy="749808"/>
          </a:xfrm>
          <a:prstGeom prst="rect">
            <a:avLst/>
          </a:prstGeom>
          <a:solidFill>
            <a:srgbClr val="F7F5E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286000"/>
            <a:ext cx="1463040" cy="749808"/>
          </a:xfrm>
          <a:prstGeom prst="rect">
            <a:avLst/>
          </a:prstGeom>
          <a:solidFill>
            <a:srgbClr val="F7F5E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286000"/>
            <a:ext cx="6675120" cy="749808"/>
          </a:xfrm>
          <a:prstGeom prst="rect">
            <a:avLst/>
          </a:prstGeom>
          <a:solidFill>
            <a:srgbClr val="F7F5E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860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Glória do Goitá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 km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 orgânico documentado — CEASA, feiras da RMR e feira local. 3 associações ativas de produtores.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035808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3035808"/>
            <a:ext cx="6675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358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Igarassu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63240" y="30358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km (RMR)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26280" y="303580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da associação agroflorestal Terra &amp; Vida.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85616"/>
            <a:ext cx="2377440" cy="749808"/>
          </a:xfrm>
          <a:prstGeom prst="rect">
            <a:avLst/>
          </a:prstGeom>
          <a:solidFill>
            <a:srgbClr val="F7F5E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785616"/>
            <a:ext cx="1463040" cy="749808"/>
          </a:xfrm>
          <a:prstGeom prst="rect">
            <a:avLst/>
          </a:prstGeom>
          <a:solidFill>
            <a:srgbClr val="F7F5E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785616"/>
            <a:ext cx="6675120" cy="749808"/>
          </a:xfrm>
          <a:prstGeom prst="rect">
            <a:avLst/>
          </a:prstGeom>
          <a:solidFill>
            <a:srgbClr val="F7F5E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8561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Lourenço da Mata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63240" y="378561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km (RMR)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26280" y="378561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da própria RMR com produtores associados à Terra &amp; Vida — o mais próximo do CD.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35424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4535424"/>
            <a:ext cx="14630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4535424"/>
            <a:ext cx="6675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53542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Goiana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63240" y="453542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km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26280" y="4535424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com produtores associados à Terra &amp; Vida, na divisa com a Paraíba.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contrário do senso comum sobre o semiárido nordestino, esses municípios ficam na Zona da Mata (faixa litorânea mais úmida), com tradição agrícola consolidada.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7881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Ressalva: validar com consulta filtrada no CNPO por município antes de fechar contratos (mesma metodologia da seção 4.1.1 do plano matriz).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AO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stack, dois ajustes para a praça Recife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Foco geográfico no lançamento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restrita a Zona Norte + Zona Sul (não RMR inteira) — reduz raio de cobertura e aumenta densidade de entrega por rota desde o mês 1, a maior alavanca de margem do modelo.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7F5EF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977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Ticket a testar com cautela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mesma estrutura de planos (R$69–199/semana), mas monitora elasticidade de preço de perto — renda per capita estadual mais baixa exige mais atenção que em Curitiba/Brasília. Plano "Solo" como porta de entrada.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apps (cliente + fornecedor), pagamento e redes sociais seguem exatamente o desenho da seção 5 do plano matriz — mesma tecnologia, sem stack separada por praça.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ESPECÍFICOS DE RECIFE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riscos além da matriz geral do modelo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7F5E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128016" cy="169164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Concorrente incumbente de 10+ anos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das praças "brancas" do comparativo original, a marca precisa se diferenciar desde o lançamento. Mitigação: mystery shopping do Porta a Porta antes de lançar; app/assinatura como diferencial claro.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7F5E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840480"/>
            <a:ext cx="128016" cy="1691640"/>
          </a:xfrm>
          <a:prstGeom prst="roundRect">
            <a:avLst/>
          </a:prstGeom>
          <a:solidFill>
            <a:srgbClr val="C97A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Variabilidade climática do Nordeste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da Mata é mais úmida que o sertão, mas ainda sujeita a estiagens recorrentes na região. Mitigação: mesma diversificação de fornecedores da matriz, reforçada por monitoramento sazonal próximo aos polos.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faixa da matriz, com upside potencial de CAC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54480" y="2103120"/>
            <a:ext cx="2286000" cy="22860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 meses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3429000"/>
            <a:ext cx="1920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sobre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R$ 275k (piso)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2286000" cy="2286000"/>
          </a:xfrm>
          <a:prstGeom prst="ellipse">
            <a:avLst/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 meses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0" y="3429000"/>
            <a:ext cx="1920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sobre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R$ 580k (teto)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premissas de custo do cenário-base nacional. Ticket médio ~R$540/mês (a validar conforme ajustes da seção 7).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 de upside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categoria já mais aceita culturalmente e um concorrente que já fez parte do trabalho de educação de mercado, o CAC real pode ficar no piso ou abaixo da faixa de R$80–200 — melhorando payback e LTV/CAC. Hipótese a validar no piloto local, não um número confirmado.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RECIFE ENTRA NO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a praça-piloto — é a candidata natural a franquia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8A5A22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é o piloto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9806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334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 de 10 anos eleva o CAC esperado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6667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5021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diferenciação imediata, não mercado vazio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53542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708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piloto é validar em mercado sem concorrência (Curitiba)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C26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057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é ótima 2ª onda / franquia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79806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6334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já provada por terceiros — reduz risco do operador local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36667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5021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Franqueado pernambucano já entende Zona Norte/Sul e os polos da Zona da Mata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453542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3708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franquia (matriz, seção 12.5) elimina a necessidade de a matriz capitalizar mais uma praça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— Estudo de Praça: Recife (RMR)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&amp; 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Recife: viável, com demanda pré-validada por terceiros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tem a maior penetração de orgânicos do Brasil (45%) — categoria já aceita culturalmente.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provada por um concorrente operando desde 2014 em Recife — reduz o maior risco de qualquer investidor.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Fornecimento: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cinturão orgânico documentado a 20–65km, parte já dentro da RMR.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no roadmap: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candidata natural a franquia (2ª onda), não a praça-piloto.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92024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1730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256032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24688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fornecedores em 100km no CNPO (Glória do Goitá, Igarassu, São Lourenço da Mata, Goiana)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329184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83880" y="32004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shopping do Porta a Porta Orgânicos (preço, sortimento, experiência)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402336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39319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elasticidade de preço em Zona Norte/Zona Sul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475488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46634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operador local como candidato a franqueado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548640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53949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Recife na fila de franquia após playbook de Curitiba documentado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Clube.org  ·  joaogcj@gmail.com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2026-08-11T14:15:11Z</dcterms:created>
  <dcterms:modified xsi:type="dcterms:W3CDTF">2026-08-11T14:15:11Z</dcterms:modified>
</cp:coreProperties>
</file>