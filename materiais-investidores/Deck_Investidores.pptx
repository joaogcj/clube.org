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Penetração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6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Nordeste</c:v>
                  </c:pt>
                  <c:pt idx="1">
                    <c:v>Centro-Oeste</c:v>
                  </c:pt>
                  <c:pt idx="2">
                    <c:v>Sudeste (SP/RJ)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</c:v>
                </c:pt>
                <c:pt idx="1">
                  <c:v>42</c:v>
                </c:pt>
                <c:pt idx="2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6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6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B5E"/>
                </a:solidFill>
                <a:latin typeface="Arial"/>
              </a:defRPr>
            </a:pPr>
            <a:r>
              <a:rPr sz="1100" b="0" i="0" u="none" strike="noStrike">
                <a:solidFill>
                  <a:srgbClr val="5B6B5E"/>
                </a:solidFill>
                <a:latin typeface="Arial"/>
              </a:rPr>
              <a:t>Score ponderado (população, renda, fornecedores, penetração, concorrência)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ponderado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62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Curitiba</c:v>
                  </c:pt>
                  <c:pt idx="1">
                    <c:v>Brasília</c:v>
                  </c:pt>
                  <c:pt idx="2">
                    <c:v>Porto Alegre</c:v>
                  </c:pt>
                  <c:pt idx="3">
                    <c:v>São Paulo</c:v>
                  </c:pt>
                  <c:pt idx="4">
                    <c:v>Florianópolis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0.53</c:v>
                </c:pt>
                <c:pt idx="1">
                  <c:v>0.46</c:v>
                </c:pt>
                <c:pt idx="2">
                  <c:v>0.44</c:v>
                </c:pt>
                <c:pt idx="3">
                  <c:v>0.32</c:v>
                </c:pt>
                <c:pt idx="4">
                  <c:v>0.3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C262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6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 mensal (R$)</c:v>
                </c:pt>
              </c:strCache>
            </c:strRef>
          </c:tx>
          <c:spPr>
            <a:solidFill>
              <a:srgbClr val="97BC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Mês 1</c:v>
                  </c:pt>
                  <c:pt idx="1">
                    <c:v>Mês 6</c:v>
                  </c:pt>
                  <c:pt idx="2">
                    <c:v>Mês 12</c:v>
                  </c:pt>
                  <c:pt idx="3">
                    <c:v>Mês 18</c:v>
                  </c:pt>
                  <c:pt idx="4">
                    <c:v>Mês 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56988</c:v>
                </c:pt>
                <c:pt idx="1">
                  <c:v>170953</c:v>
                </c:pt>
                <c:pt idx="2">
                  <c:v>382373</c:v>
                </c:pt>
                <c:pt idx="3">
                  <c:v>498737</c:v>
                </c:pt>
                <c:pt idx="4">
                  <c:v>570611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Assinantes ativos</c:v>
                </c:pt>
              </c:strCache>
            </c:strRef>
          </c:tx>
          <c:spPr>
            <a:solidFill>
              <a:srgbClr val="C97A2B"/>
            </a:solidFill>
            <a:ln w="38100" cap="flat">
              <a:solidFill>
                <a:srgbClr val="C97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7A2B"/>
              </a:solidFill>
              <a:ln w="9525" cap="flat">
                <a:solidFill>
                  <a:srgbClr val="C97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Mês 1</c:v>
                  </c:pt>
                  <c:pt idx="1">
                    <c:v>Mês 6</c:v>
                  </c:pt>
                  <c:pt idx="2">
                    <c:v>Mês 12</c:v>
                  </c:pt>
                  <c:pt idx="3">
                    <c:v>Mês 18</c:v>
                  </c:pt>
                  <c:pt idx="4">
                    <c:v>Mês 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106</c:v>
                </c:pt>
                <c:pt idx="1">
                  <c:v>316</c:v>
                </c:pt>
                <c:pt idx="2">
                  <c:v>708</c:v>
                </c:pt>
                <c:pt idx="3">
                  <c:v>928</c:v>
                </c:pt>
                <c:pt idx="4">
                  <c:v>1056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62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5E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5E"/>
                    </a:solidFill>
                    <a:latin typeface="Arial"/>
                  </a:rPr>
                  <a:t>Receita mensal (R$)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5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5E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5E"/>
                    </a:solidFill>
                    <a:latin typeface="Arial"/>
                  </a:rPr>
                  <a:t>Assinantes ativos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5E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62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C262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274A2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317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CLUBE.ORG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58368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clube de vegetais orgânicos direto do produtor regional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semanal  ·  Sazonalidade  ·  Centro de distribuição próprio  ·  Fornecedores em até 100km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58368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para investidores e consultores  |  Agosto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dores desconectadas, uma única solução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Consumidor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971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 orgânico fresco e confiável, mas depende de feira (pouco conveniente) ou supermercado premium (caro, curadoria fraca, sem relação com o produtor).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240280"/>
            <a:ext cx="502920" cy="5029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9260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Produtor regional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63440" y="3383280"/>
            <a:ext cx="2971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de qualidade, mas escoamento imprevisível — dependência de feira/CEASA, sem visibilidade de demanda para planejar plantio.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0" y="2240280"/>
            <a:ext cx="502920" cy="502920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5039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503920" y="292608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03920" y="3383280"/>
            <a:ext cx="29718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fragmentada entre players pequenos e manuais (R$25–95/entrega) — ninguém profissionalizou a categoria com tecnologia e operação de escala.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Fornecedor → CD → Cliente, com sazonalidade no centro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4505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Fornecedores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regionais (100km)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Declaram disponibilidade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preço semanal via app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63240" y="27432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566160" y="22860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03320" y="24505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 de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(CD)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03320" y="31546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Recebe, confere, separa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embala por plano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27432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46520" y="22860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24505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Cardápio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semana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31546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Definido pela safra 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sazonalidade real, não só marketing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274320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326880" y="2286000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2450592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ao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assinante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464040" y="31546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otimizada,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fresca em casa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44348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Posicionamento: “a cesta da estação, direto do produtor regional, sem você precisar pensar nisso toda semana.”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5166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cliente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486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Curadoria de sazonalidade, previsibilidade de qualidade, flexibilidade (pausar/trocar), preço direto do produtor.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080760" y="51663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fornecedor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080760" y="5486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escoamento recorrente, visibilidade de demanda antecipada, pagamento em ciclo curto.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3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MERCADO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mercado estrutural em expansão — não um pico passageiro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1920240" cy="192024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61701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bi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76579" y="330829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orgânico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Brasil, 2025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2194560"/>
            <a:ext cx="1920240" cy="1920240"/>
          </a:xfrm>
          <a:prstGeom prst="ellipse">
            <a:avLst/>
          </a:prstGeom>
          <a:solidFill>
            <a:srgbClr val="8A5A2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261701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16,7 bi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99739" y="330829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2034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(CAGR ~15,9%)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2194560"/>
            <a:ext cx="1920240" cy="192024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69280" y="261701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822899" y="330829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domicílios com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orgânico (2023)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194560"/>
            <a:ext cx="1920240" cy="1920240"/>
          </a:xfrm>
          <a:prstGeom prst="ellipse">
            <a:avLst/>
          </a:prstGeom>
          <a:solidFill>
            <a:srgbClr val="8A5A2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261701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246059" y="330829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da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no ano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IMARC Group (Brazil Organic Food Market); Organis — Panorama do Mercado Orgânico Brasileiro.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48920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Penetração ainda em construção → dobrou em 6 anos, longe da saturação.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53492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de orgânicos in natura caíram até 8% (IBGE) — categoria ficando mais acessível, ampliando o público endereçável.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AGORA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já está validado — ninguém ainda escalou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Penetração de orgânicos por região (% de domicílios)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574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5780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o Sudeste (SP/RJ) — praça óbvia — é onde a categoria proporcionalmente menos penetrou.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Concorrência mapeada: pequena e manual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92240" y="2103120"/>
            <a:ext cx="5120640" cy="566928"/>
          </a:xfrm>
          <a:prstGeom prst="roundRect">
            <a:avLst>
              <a:gd name="adj" fmla="val 9677"/>
            </a:avLst>
          </a:prstGeom>
          <a:solidFill>
            <a:srgbClr val="F7F5EF"/>
          </a:solidFill>
          <a:ln/>
        </p:spPr>
      </p:sp>
      <p:sp>
        <p:nvSpPr>
          <p:cNvPr id="9" name="Text 6"/>
          <p:cNvSpPr/>
          <p:nvPr/>
        </p:nvSpPr>
        <p:spPr>
          <a:xfrm>
            <a:off x="6675120" y="21031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 Orgânicos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595360" y="21031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Brasília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9966960" y="2103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R$26/entrega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492240" y="2779776"/>
            <a:ext cx="5120640" cy="566928"/>
          </a:xfrm>
          <a:prstGeom prst="roundRect">
            <a:avLst>
              <a:gd name="adj" fmla="val 9677"/>
            </a:avLst>
          </a:prstGeom>
          <a:solidFill>
            <a:srgbClr val="F7F5EF"/>
          </a:solidFill>
          <a:ln/>
        </p:spPr>
      </p:sp>
      <p:sp>
        <p:nvSpPr>
          <p:cNvPr id="13" name="Text 10"/>
          <p:cNvSpPr/>
          <p:nvPr/>
        </p:nvSpPr>
        <p:spPr>
          <a:xfrm>
            <a:off x="6675120" y="277977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 Orgânico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595360" y="277977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multi-praça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966960" y="277977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R$46–96/entrega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492240" y="3456432"/>
            <a:ext cx="5120640" cy="566928"/>
          </a:xfrm>
          <a:prstGeom prst="roundRect">
            <a:avLst>
              <a:gd name="adj" fmla="val 9677"/>
            </a:avLst>
          </a:prstGeom>
          <a:solidFill>
            <a:srgbClr val="F7F5EF"/>
          </a:solidFill>
          <a:ln/>
        </p:spPr>
      </p:sp>
      <p:sp>
        <p:nvSpPr>
          <p:cNvPr id="17" name="Text 14"/>
          <p:cNvSpPr/>
          <p:nvPr/>
        </p:nvSpPr>
        <p:spPr>
          <a:xfrm>
            <a:off x="6675120" y="345643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 +Q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595360" y="3456432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multi-praça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966960" y="34564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R$54–240/mês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492240" y="4133088"/>
            <a:ext cx="5120640" cy="566928"/>
          </a:xfrm>
          <a:prstGeom prst="roundRect">
            <a:avLst>
              <a:gd name="adj" fmla="val 9677"/>
            </a:avLst>
          </a:prstGeom>
          <a:solidFill>
            <a:srgbClr val="F7F5EF"/>
          </a:solidFill>
          <a:ln/>
        </p:spPr>
      </p:sp>
      <p:sp>
        <p:nvSpPr>
          <p:cNvPr id="21" name="Text 18"/>
          <p:cNvSpPr/>
          <p:nvPr/>
        </p:nvSpPr>
        <p:spPr>
          <a:xfrm>
            <a:off x="6675120" y="413308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Horti Clube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8595360" y="413308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966960" y="413308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opções de cesta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492240" y="490118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player mapeado tem tecnologia própria dos dois lados (fornecedor + cliente) ou operação de CD estruturada em escala.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NEGÓCIO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Assinatura recorrente, três planos, ticket crescente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80160" y="1874520"/>
            <a:ext cx="3291840" cy="3520440"/>
          </a:xfrm>
          <a:prstGeom prst="roundRect">
            <a:avLst>
              <a:gd name="adj" fmla="val 2778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801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2697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itens · 3–4kg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pessoas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28016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R$ 69–89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280160" y="4681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37760" y="1737360"/>
            <a:ext cx="3291840" cy="3794760"/>
          </a:xfrm>
          <a:prstGeom prst="roundRect">
            <a:avLst>
              <a:gd name="adj" fmla="val 2778"/>
            </a:avLst>
          </a:prstGeom>
          <a:solidFill>
            <a:srgbClr val="1F3D24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9385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ESCOLHIDO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2240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66360" y="27432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10–14 itens · 6–7kg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pessoas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937760" y="4297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R$ 119–149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937760" y="48188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595360" y="1874520"/>
            <a:ext cx="3291840" cy="3520440"/>
          </a:xfrm>
          <a:prstGeom prst="roundRect">
            <a:avLst>
              <a:gd name="adj" fmla="val 2778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953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 +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823960" y="2697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14–18 itens + ovos/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temperos · 4+ pessoas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R$ 169–199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595360" y="46817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semana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Add-ons (ovos, mel, pães) para aumentar ticket   ·   Loja avulsa para quem ainda não assina   ·   B2B (fruteira de escritório) no médio prazo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motor de software, três frentes de produto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2402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49808" y="292608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Site + Loja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42900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Institucional, storytelling dos produtores, checkout de assinatura e compra avulsa (SEO/aquisição).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410712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9312" y="22402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Fornecedor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11880" y="342900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e preço semanal, calendário de entrega no CD, nota fiscal e extrato de pagamento.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6272784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01384" y="22402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50138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73952" y="292608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Cliente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73952" y="342900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de plano, cardápio da semana com antecedência, troca de itens, rastreio e avaliação.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606040" cy="3246120"/>
          </a:xfrm>
          <a:prstGeom prst="roundRect">
            <a:avLst>
              <a:gd name="adj" fmla="val 2807"/>
            </a:avLst>
          </a:prstGeom>
          <a:solidFill>
            <a:srgbClr val="97BC6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63456" y="224028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9363456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36024" y="292608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Pagamentos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36024" y="3429000"/>
            <a:ext cx="220370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163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Cobrança recorrente + PIX automático, retry de falha, comunicação proativa antes de suspender.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sociais (bastidores, receitas, indicação) e WhatsApp operacional completam o ecossistema — ver plano de negócios, seção 5.4.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DA PRAÇA-PILOTO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Curitiba lidera a matriz de decisão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675120" y="18288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4.510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8275320" y="184708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produtores orgânicos certificados no Paraná — o maior número do Brasil (CNPO/MAPA)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675120" y="2788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R$ 2.762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75320" y="280720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domiciliar per capita do estado — 5ª maior do país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675120" y="3749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275320" y="3767328"/>
            <a:ext cx="3337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concorrentes nacionais mapeados operando na praça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75120" y="4846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recomendada: Curitiba (piloto) → Porto Alegre → São Paulo → Brasília / Florianópolis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completa e metodologia de validação de fornecedores em 100km: plano de negócios, seções 2.4 e 4.1.1.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matemática por assinante sustenta o modelo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920240" cy="192024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52557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R$ 540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976579" y="321685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médio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46120" y="2103120"/>
            <a:ext cx="1920240" cy="1920240"/>
          </a:xfrm>
          <a:prstGeom prst="ellipse">
            <a:avLst/>
          </a:prstGeom>
          <a:solidFill>
            <a:srgbClr val="8A5A2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252557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R$ 140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99739" y="321685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médio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assinante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2103120"/>
            <a:ext cx="1920240" cy="1920240"/>
          </a:xfrm>
          <a:prstGeom prst="ellipse">
            <a:avLst/>
          </a:prstGeom>
          <a:solidFill>
            <a:srgbClr val="2C5F2D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669280" y="252557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12,9x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822899" y="321685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103120"/>
            <a:ext cx="1920240" cy="1920240"/>
          </a:xfrm>
          <a:prstGeom prst="ellipse">
            <a:avLst/>
          </a:prstGeom>
          <a:solidFill>
            <a:srgbClr val="8A5A22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2525573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mês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246059" y="3216859"/>
            <a:ext cx="1613002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CAC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4348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mensal alvo: abaixo de 9–10%  →  ~11 meses de vida útil média por assinante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22960" y="4846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equilíbrio estimado: ~309 assinantes ativos cobrindo o custo fixo mensal do CD + equipe base (R$50 mil/mês, estimativa a validar).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— não aquisição — é a variável que decide o negócio: acima de ~15% de churn mensal, o CAC nunca se paga.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FINANCEIRA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meses: de 50 para ~1.056 assinantes ativos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110642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Cenário-base do modelo financeiro completo (planilha em anexo). EBITDA positivo já no primeiro mês no cenário-base — refinar com dados reais do piloto.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Investimento inicial estimado: R$ 275 mil – R$ 580 mil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Estruturação do CD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46120" y="1837944"/>
            <a:ext cx="265176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6007608" y="17830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R$ 60k – 120k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25856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Veículo(s) refrigerado(s)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46120" y="2313432"/>
            <a:ext cx="198882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5344668" y="22585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R$ 40k – 90k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2734056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+ loja online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46120" y="2788920"/>
            <a:ext cx="77343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4129278" y="273405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R$ 15k – 35k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3209544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fornecedor + cliente (MVP)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3264408"/>
            <a:ext cx="198882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5344668" y="32095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R$ 40k – 90k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3685032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 conteúdo inicial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46120" y="3739896"/>
            <a:ext cx="66294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4018788" y="368503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R$ 15k – 30k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16052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Licenças e jurídico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46120" y="4215384"/>
            <a:ext cx="44196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21" name="Text 19"/>
          <p:cNvSpPr/>
          <p:nvPr/>
        </p:nvSpPr>
        <p:spPr>
          <a:xfrm>
            <a:off x="3797808" y="4160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R$ 10k – 20k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463600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de giro (2–3 ciclos)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246120" y="4690872"/>
            <a:ext cx="2651760" cy="274320"/>
          </a:xfrm>
          <a:prstGeom prst="roundRect">
            <a:avLst>
              <a:gd name="adj" fmla="val 13333"/>
            </a:avLst>
          </a:prstGeom>
          <a:solidFill>
            <a:srgbClr val="97BC62"/>
          </a:solidFill>
          <a:ln/>
        </p:spPr>
      </p:sp>
      <p:sp>
        <p:nvSpPr>
          <p:cNvPr id="24" name="Text 22"/>
          <p:cNvSpPr/>
          <p:nvPr/>
        </p:nvSpPr>
        <p:spPr>
          <a:xfrm>
            <a:off x="6007608" y="463600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R$ 60k – 120k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55280" y="1783080"/>
            <a:ext cx="3657600" cy="3566160"/>
          </a:xfrm>
          <a:prstGeom prst="roundRect">
            <a:avLst>
              <a:gd name="adj" fmla="val 2564"/>
            </a:avLst>
          </a:prstGeom>
          <a:solidFill>
            <a:srgbClr val="1F3D24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955280" y="2011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DOS RECURSOS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95528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R$ 275k – 580k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813816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+15% de reserva de contingência incluída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38160" y="3520440"/>
            <a:ext cx="3291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recomendada: capital semente/anjo para validar o piloto (Fase 0–1), seguida de pré-seed para escalar tecnologia e a 2ª praça.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por playbook replicável — não por “ligar um switch”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77340" y="2148840"/>
            <a:ext cx="548640" cy="548640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6" name="Text 4"/>
          <p:cNvSpPr/>
          <p:nvPr/>
        </p:nvSpPr>
        <p:spPr>
          <a:xfrm>
            <a:off x="15773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unidade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econômica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em Curitiba até bater churn &lt;10% e margem positiva por 2–3 trimestres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9412" y="2148840"/>
            <a:ext cx="548640" cy="548640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1" name="Text 9"/>
          <p:cNvSpPr/>
          <p:nvPr/>
        </p:nvSpPr>
        <p:spPr>
          <a:xfrm>
            <a:off x="443941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47872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playbook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347472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replicável de como abrir CD, recrutar fornecedores e configurar o app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6272784" y="19202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01484" y="2148840"/>
            <a:ext cx="548640" cy="548640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16" name="Text 14"/>
          <p:cNvSpPr/>
          <p:nvPr/>
        </p:nvSpPr>
        <p:spPr>
          <a:xfrm>
            <a:off x="730148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9944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Abrir 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2ª praça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55664" y="347472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Reaproveitar 80%+ da tecnologia; testar o playbook operacional na prática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9134856" y="1920240"/>
            <a:ext cx="2606040" cy="3291840"/>
          </a:xfrm>
          <a:prstGeom prst="roundRect">
            <a:avLst>
              <a:gd name="adj" fmla="val 2807"/>
            </a:avLst>
          </a:prstGeom>
          <a:solidFill>
            <a:srgbClr val="F7F5EF"/>
          </a:solidFill>
          <a:ln/>
          <a:effectLst>
            <a:outerShdw sx="100000" sy="100000" kx="0" ky="0" algn="bl" rotWithShape="0" blurRad="101600" dist="38100" dir="5400000">
              <a:srgbClr val="1C262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163556" y="2148840"/>
            <a:ext cx="548640" cy="548640"/>
          </a:xfrm>
          <a:prstGeom prst="ellipse">
            <a:avLst/>
          </a:prstGeom>
          <a:solidFill>
            <a:srgbClr val="C97A2B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556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272016" y="283464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Acelerar 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ritmo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317736" y="3474720"/>
            <a:ext cx="2240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capital a cada 2–3 meses, sempre com o mesmo portão de decisão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“roll-up regional”: cada praça precisa ser lucrativa por si só — a escala vem de repetir uma unidade que já funciona, não de subsidiar operação deficitária indefinidamente.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RISCOS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conhecidos, com mitigação desde o desenho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Quebra de safra (clima)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19456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diversificada de fornecedores; nenhum responde por &gt;20-25% do volume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9" name="Shape 7"/>
          <p:cNvSpPr/>
          <p:nvPr/>
        </p:nvSpPr>
        <p:spPr>
          <a:xfrm>
            <a:off x="6263640" y="1783080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745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Churn alto de assinantes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219456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pausa (não só cancelamento); qualidade consistente; comunicação de sazonalidade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548640" y="2907792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907792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99923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Perecibilidade / cadeia fria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331927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 em CD e frota refrigerada; checklist de recebimento e saída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6263640" y="2907792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2907792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99923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Dependência de poucos fornecedores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37960" y="331927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Diversificação obrigatória desde o piloto (seção 4.1 do plano)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48640" y="4032504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032504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12394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de giro insuficiente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4443984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de fluxo de caixa desde o dia 1; prazos realistas com fornecedores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6263640" y="4032504"/>
            <a:ext cx="5349240" cy="960120"/>
          </a:xfrm>
          <a:prstGeom prst="roundRect">
            <a:avLst>
              <a:gd name="adj" fmla="val 6667"/>
            </a:avLst>
          </a:prstGeom>
          <a:solidFill>
            <a:srgbClr val="F7F5EF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3640" y="4032504"/>
            <a:ext cx="109728" cy="960120"/>
          </a:xfrm>
          <a:prstGeom prst="roundRect">
            <a:avLst/>
          </a:prstGeom>
          <a:solidFill>
            <a:srgbClr val="C97A2B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4123944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D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Concorrência de grandes players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537960" y="4443984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C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Diferenciação por curadoria + sazonalidade + relação com produtor, não por preço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— Plano de Negócios &amp; Investimento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VEREDITO &amp; PRÓXIMOS PASSOS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Viável e escalável — com disciplina de execução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6583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Viável: 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já validado por 6+ operações no Brasil; matemática unitária saudável (LTV/CAC ~12,9x).
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Escalável: 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sim, no sentido de playbook replicável praça a praça — não como um software de custo marginal zero.
</a:t>
            </a:r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Condição: </a:t>
            </a:r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retenção é a variável decisiva. Validar em Curitiba antes de qualquer expansão.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498080" y="1920240"/>
            <a:ext cx="4114800" cy="3977640"/>
          </a:xfrm>
          <a:prstGeom prst="roundRect">
            <a:avLst>
              <a:gd name="adj" fmla="val 2299"/>
            </a:avLst>
          </a:prstGeom>
          <a:solidFill>
            <a:srgbClr val="17301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0" y="2148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0" y="2560320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183880" y="248716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fornecedores em 100km de Curitiba (CNPO)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0" y="3182112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0" y="3182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83880" y="31089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 piloto manual — 50 clientes, 3–5 fornecedores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0" y="3803904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0" y="38039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183880" y="37307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 financeiro mês a mês com dados reais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0" y="4425696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435254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contratos-padrão com fornecedores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5047488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5047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D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83880" y="49743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Captar capital semente/anjo para o piloto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B7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Clube.org  ·  joaogcj@gmail.com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2026-08-06T05:23:47Z</dcterms:created>
  <dcterms:modified xsi:type="dcterms:W3CDTF">2026-08-06T05:23:47Z</dcterms:modified>
</cp:coreProperties>
</file>