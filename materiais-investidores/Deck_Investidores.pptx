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Penetração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6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Nordeste</c:v>
                  </c:pt>
                  <c:pt idx="1">
                    <c:v>Centro-Oeste</c:v>
                  </c:pt>
                  <c:pt idx="2">
                    <c:v>Sudeste (SP/RJ)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42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6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6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B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B6B5E"/>
                </a:solidFill>
                <a:latin typeface="Arial"/>
              </a:rPr>
              <a:t>Score ponderado (população, renda, fornecedores, penetração, concorrência)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ponderado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6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Curitiba</c:v>
                  </c:pt>
                  <c:pt idx="1">
                    <c:v>Brasília</c:v>
                  </c:pt>
                  <c:pt idx="2">
                    <c:v>Porto Alegre</c:v>
                  </c:pt>
                  <c:pt idx="3">
                    <c:v>São Paulo</c:v>
                  </c:pt>
                  <c:pt idx="4">
                    <c:v>Florianópolis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0.53</c:v>
                </c:pt>
                <c:pt idx="1">
                  <c:v>0.46</c:v>
                </c:pt>
                <c:pt idx="2">
                  <c:v>0.44</c:v>
                </c:pt>
                <c:pt idx="3">
                  <c:v>0.32</c:v>
                </c:pt>
                <c:pt idx="4">
                  <c:v>0.3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C26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6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mensal (R$)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Mês 1</c:v>
                  </c:pt>
                  <c:pt idx="1">
                    <c:v>Mês 6</c:v>
                  </c:pt>
                  <c:pt idx="2">
                    <c:v>Mês 12</c:v>
                  </c:pt>
                  <c:pt idx="3">
                    <c:v>Mês 18</c:v>
                  </c:pt>
                  <c:pt idx="4">
                    <c:v>Mês 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56988</c:v>
                </c:pt>
                <c:pt idx="1">
                  <c:v>170953</c:v>
                </c:pt>
                <c:pt idx="2">
                  <c:v>382373</c:v>
                </c:pt>
                <c:pt idx="3">
                  <c:v>498737</c:v>
                </c:pt>
                <c:pt idx="4">
                  <c:v>570611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Assinantes ativos</c:v>
                </c:pt>
              </c:strCache>
            </c:strRef>
          </c:tx>
          <c:spPr>
            <a:solidFill>
              <a:srgbClr val="C97A2B"/>
            </a:solidFill>
            <a:ln w="38100" cap="flat">
              <a:solidFill>
                <a:srgbClr val="C97A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97A2B"/>
              </a:solidFill>
              <a:ln w="9525" cap="flat">
                <a:solidFill>
                  <a:srgbClr val="C97A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Mês 1</c:v>
                  </c:pt>
                  <c:pt idx="1">
                    <c:v>Mês 6</c:v>
                  </c:pt>
                  <c:pt idx="2">
                    <c:v>Mês 12</c:v>
                  </c:pt>
                  <c:pt idx="3">
                    <c:v>Mês 18</c:v>
                  </c:pt>
                  <c:pt idx="4">
                    <c:v>Mês 24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106</c:v>
                </c:pt>
                <c:pt idx="1">
                  <c:v>316</c:v>
                </c:pt>
                <c:pt idx="2">
                  <c:v>708</c:v>
                </c:pt>
                <c:pt idx="3">
                  <c:v>928</c:v>
                </c:pt>
                <c:pt idx="4">
                  <c:v>1056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6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5E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5E"/>
                    </a:solidFill>
                    <a:latin typeface="Arial"/>
                  </a:rPr>
                  <a:t>Receita mensal (R$)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5E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5E"/>
                    </a:solidFill>
                    <a:latin typeface="Arial"/>
                  </a:rPr>
                  <a:t>Assinantes ativos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5E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62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6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274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CLUBE.ORG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clube de vegetais orgânicos direto do produtor regional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semanal  ·  Sazonalidade  ·  Centro de distribuição próprio  ·  Fornecedores em até 100km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para investidores e consultores  |  Agosto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dores desconectadas, uma única solução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orgânico fresco e confiável, mas depende de feira (pouco conveniente) ou supermercado premium (caro, curadoria fraca, sem relação com o produtor).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Produtor regional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3832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qualidade, mas escoamento imprevisível — dependência de feira/CEASA, sem visibilidade de demanda para planejar plantio.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240280"/>
            <a:ext cx="502920" cy="50292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3832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fragmentada entre players pequenos e manuais (R$25–95/entrega) — ninguém profissionalizou a categoria com tecnologia e operação de escala.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Fornecedor → CD → Cliente, com sazonalidade no centro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45059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Fornecedores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regionais (100km)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Declaram disponibilidade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preço semanal via 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63240" y="2743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66160" y="22860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245059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 de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(CD)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70332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Recebe, confere, separa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embala por plano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46520" y="22860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45059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Cardápio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semana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pela safra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real, não só marketing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2743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326880" y="22860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64040" y="245059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assinante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46404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otimizada,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 fresca em casa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434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Posicionamento: “a cesta da estação, direto do produtor regional, sem você precisar pensar nisso toda semana.”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166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 cliente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5486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sazonalidade, previsibilidade de qualidade, flexibilidade (pausar/trocar), preço direto do produtor.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80760" y="5166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 fornecedor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5486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escoamento recorrente, visibilidade de demanda antecipada, pagamento em ciclo curto.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DE 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mercado estrutural em expansão — não um pico passageiro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920240" cy="192024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61701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US$ 4,3 bi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76579" y="330829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orgânico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Brasil, 2025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2194560"/>
            <a:ext cx="1920240" cy="1920240"/>
          </a:xfrm>
          <a:prstGeom prst="ellipse">
            <a:avLst/>
          </a:prstGeom>
          <a:solidFill>
            <a:srgbClr val="8A5A2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261701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16,7 bi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99739" y="330829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2034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(CAGR ~15,9%)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2194560"/>
            <a:ext cx="1920240" cy="192024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261701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822899" y="330829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domicílios com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orgânico (2023)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2194560"/>
            <a:ext cx="1920240" cy="1920240"/>
          </a:xfrm>
          <a:prstGeom prst="ellipse">
            <a:avLst/>
          </a:prstGeom>
          <a:solidFill>
            <a:srgbClr val="8A5A2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261701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46059" y="330829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no ano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IMARC Group (Brazil Organic Food Market); Organis — Panorama do Mercado Orgânico Brasileiro.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Penetração ainda em construção → dobrou em 6 anos, longe da saturação.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de orgânicos in natura caíram até 8% (IBGE) — categoria ficando mais acessível, ampliando o público endereçável.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já está validado — ninguém ainda escalou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Penetração de orgânicos por região (% de domicílios)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578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o Sudeste (SP/RJ) — praça óbvia — é onde a categoria proporcionalmente menos penetrou.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Concorrência mapeada: pequena e manual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210312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7F5EF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2103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Orgânicos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95360" y="2103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966960" y="21031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R$26/entrega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92240" y="277977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7F5EF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277977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 Orgânico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95360" y="277977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multi-praça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966960" y="27797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R$46–96/entrega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92240" y="345643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7F5EF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34564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 +Q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595360" y="34564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multi-praça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966960" y="34564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R$54–240/mês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92240" y="413308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7F5EF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4133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Horti Clube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595360" y="41330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966960" y="41330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opções de cesta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92240" y="490118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player mapeado tem tecnologia própria dos dois lados (fornecedor + cliente) ou operação de CD estruturada em escala.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Assinatura recorrente, três planos, ticket crescente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874520"/>
            <a:ext cx="3291840" cy="3520440"/>
          </a:xfrm>
          <a:prstGeom prst="roundRect">
            <a:avLst>
              <a:gd name="adj" fmla="val 2778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2697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itens · 3–4kg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pessoas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8016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R$ 69–89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4681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0" y="1737360"/>
            <a:ext cx="3291840" cy="3794760"/>
          </a:xfrm>
          <a:prstGeom prst="roundRect">
            <a:avLst>
              <a:gd name="adj" fmla="val 2778"/>
            </a:avLst>
          </a:prstGeom>
          <a:solidFill>
            <a:srgbClr val="1F3D24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ESCOLHIDO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Família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66360" y="2743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10–14 itens · 6–7kg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pessoas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4297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R$ 119–149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37760" y="4818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95360" y="1874520"/>
            <a:ext cx="3291840" cy="3520440"/>
          </a:xfrm>
          <a:prstGeom prst="roundRect">
            <a:avLst>
              <a:gd name="adj" fmla="val 2778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953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Família 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23960" y="2697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14–18 itens + ovos/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temperos · 4+ pessoas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9536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R$ 169–199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95360" y="4681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Add-ons (ovos, mel, pães) para aumentar ticket   ·   Loja avulsa para quem ainda não assina   ·   B2B (fruteira de escritório) no médio prazo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motor de software, três frentes de produto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40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+ Loja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42900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Institucional, storytelling dos produtores, checkout de assinatura e compra avulsa (SEO/aquisição).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2240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Fornecedor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42900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e preço semanal, calendário de entrega no CD, nota fiscal e extrato de pagamento.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72784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01384" y="2240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01384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73952" y="292608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Cliente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3952" y="342900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plano, cardápio da semana com antecedência, troca de itens, rastreio e avaliação.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34856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2240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363456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36024" y="292608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36024" y="342900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recorrente + PIX automático, retry de falha, comunicação proativa antes de suspender.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 (bastidores, receitas, indicação) e WhatsApp operacional completam o ecossistema — ver plano de negócios, seção 5.4.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DA PRAÇA-PILOTO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Curitiba lidera a matriz de decisão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4.510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75320" y="18470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produtores orgânicos certificados no Paraná — o maior número do Brasil (CNPO/MAPA)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7512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R$ 2.762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75320" y="280720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domiciliar per capita do estado — 5ª maior do país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75320" y="37673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nacionais mapeados operando na praça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4846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recomendada: Curitiba (piloto) → Porto Alegre → São Paulo → Brasília / Florianópolis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completa e metodologia de validação de fornecedores em 100km: plano de negócios, seções 2.4 e 4.1.1.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matemática por assinante sustenta o modelo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920240" cy="192024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2557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R$ 540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76579" y="321685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2103120"/>
            <a:ext cx="1920240" cy="1920240"/>
          </a:xfrm>
          <a:prstGeom prst="ellipse">
            <a:avLst/>
          </a:prstGeom>
          <a:solidFill>
            <a:srgbClr val="8A5A2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252557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R$ 140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99739" y="321685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médio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assinante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2103120"/>
            <a:ext cx="1920240" cy="192024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252557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12,9x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822899" y="321685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2103120"/>
            <a:ext cx="1920240" cy="1920240"/>
          </a:xfrm>
          <a:prstGeom prst="ellipse">
            <a:avLst/>
          </a:prstGeom>
          <a:solidFill>
            <a:srgbClr val="8A5A2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252557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mês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46059" y="321685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mensal alvo: abaixo de 9–10%  →  ~11 meses de vida útil média por assinante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846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equilíbrio estimado: ~309 assinantes ativos cobrindo o custo fixo mensal do CD + equipe base (R$50 mil/mês, estimativa a validar).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— não aquisição — é a variável que decide o negócio: acima de ~15% de churn mensal, o CAC nunca se paga.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FINANCEIRA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meses: de 50 para ~1.056 assinantes ativos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11064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Cenário-base do modelo financeiro completo (planilha em anexo). EBITDA positivo já no primeiro mês no cenário-base — refinar com dados reais do piloto.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 inicial estimado: R$ 275 mil – R$ 580 mil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do CD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46120" y="1837944"/>
            <a:ext cx="2651760" cy="27432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6007608" y="1783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R$ 60k – 120k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Veículo(s) refrigerado(s)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2313432"/>
            <a:ext cx="1988820" cy="27432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344668" y="22585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R$ 40k – 90k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340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+ loja online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2788920"/>
            <a:ext cx="773430" cy="27432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129278" y="2734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R$ 15k – 35k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20954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fornecedor + cliente (MVP)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3264408"/>
            <a:ext cx="1988820" cy="27432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5344668" y="32095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R$ 40k – 90k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6850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conteúdo inicial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46120" y="3739896"/>
            <a:ext cx="662940" cy="27432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4018788" y="3685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R$ 15k – 30k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 e jurídico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4215384"/>
            <a:ext cx="441960" cy="27432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3797808" y="4160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R$ 10k – 20k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6360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giro (2–3 ciclos)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4690872"/>
            <a:ext cx="2651760" cy="27432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6007608" y="4636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R$ 60k – 120k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55280" y="178308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1F3D24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552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DOS RECURSOS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R$ 275k – 580k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13816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de reserva de contingência incluída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35204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recomendada: capital semente/anjo para validar o piloto (Fase 0–1), seguida de pré-seed para escalar tecnologia e a 2ª praça.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por playbook replicável — não por “ligar um switch”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48840"/>
            <a:ext cx="548640" cy="54864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Provar unidade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econômica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em Curitiba até bater churn &lt;10% e margem positiva por 2–3 trimestres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410712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9412" y="2148840"/>
            <a:ext cx="548640" cy="54864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11" name="Text 9"/>
          <p:cNvSpPr/>
          <p:nvPr/>
        </p:nvSpPr>
        <p:spPr>
          <a:xfrm>
            <a:off x="443941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47872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playbook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replicável de como abrir CD, recrutar fornecedores e configurar o app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272784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01484" y="2148840"/>
            <a:ext cx="548640" cy="54864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16" name="Text 14"/>
          <p:cNvSpPr/>
          <p:nvPr/>
        </p:nvSpPr>
        <p:spPr>
          <a:xfrm>
            <a:off x="730148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9944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2ª praça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55664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Reaproveitar 80%+ da tecnologia; testar o playbook operacional na prática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9134856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63556" y="2148840"/>
            <a:ext cx="548640" cy="54864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355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72016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Acelerar 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17736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capital a cada 2–3 meses, sempre com o mesmo portão de decisão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“roll-up regional”: cada praça precisa ser lucrativa por si só — a escala vem de repetir uma unidade que já funciona, não de subsidiar operação deficitária indefinidamente.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conhecidos, com mitigação desde o desenho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7F5E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960120"/>
          </a:xfrm>
          <a:prstGeom prst="roundRect">
            <a:avLst/>
          </a:prstGeom>
          <a:solidFill>
            <a:srgbClr val="C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Quebra de safra (clima)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diversificada de fornecedores; nenhum responde por &gt;20-25% do volume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7F5EF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783080"/>
            <a:ext cx="109728" cy="960120"/>
          </a:xfrm>
          <a:prstGeom prst="roundRect">
            <a:avLst/>
          </a:prstGeom>
          <a:solidFill>
            <a:srgbClr val="C97A2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745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alto de assinantes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pausa (não só cancelamento); qualidade consistente; comunicação de sazonalidade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7F5E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07792"/>
            <a:ext cx="109728" cy="960120"/>
          </a:xfrm>
          <a:prstGeom prst="roundRect">
            <a:avLst/>
          </a:prstGeom>
          <a:solidFill>
            <a:srgbClr val="C9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992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Perecibilidade / cadeia fria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31927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CD e frota refrigerada; checklist de recebimento e saída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263640" y="2907792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7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907792"/>
            <a:ext cx="109728" cy="960120"/>
          </a:xfrm>
          <a:prstGeom prst="roundRect">
            <a:avLst/>
          </a:prstGeom>
          <a:solidFill>
            <a:srgbClr val="C97A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9992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de poucos fornecedores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31927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obrigatória desde o piloto (seção 4.1 do plano)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7F5E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32504"/>
            <a:ext cx="109728" cy="960120"/>
          </a:xfrm>
          <a:prstGeom prst="roundRect">
            <a:avLst/>
          </a:prstGeom>
          <a:solidFill>
            <a:srgbClr val="C97A2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239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de giro insuficiente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44398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fluxo de caixa desde o dia 1; prazos realistas com fornecedores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263640" y="4032504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7F5E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4032504"/>
            <a:ext cx="109728" cy="960120"/>
          </a:xfrm>
          <a:prstGeom prst="roundRect">
            <a:avLst/>
          </a:prstGeom>
          <a:solidFill>
            <a:srgbClr val="C97A2B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1239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Concorrência de grandes players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444398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 por curadoria + sazonalidade + relação com produtor, não por preço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DO INVESTIMENTO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investimento se paga em 11 a 16 meses no cenário-base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54480" y="2103120"/>
            <a:ext cx="2286000" cy="22860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 meses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3429000"/>
            <a:ext cx="19202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sobre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R$ 275k (piso)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2286000" cy="2286000"/>
          </a:xfrm>
          <a:prstGeom prst="ellipse">
            <a:avLst/>
          </a:prstGeom>
          <a:solidFill>
            <a:srgbClr val="8A5A2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~16 meses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54880" y="3429000"/>
            <a:ext cx="19202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sobre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R$ 580k (teto)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Cálculo: EBITDA mensal acumulado (cenário-base do modelo financeiro) cruzando o investimento inicial total.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Ressalva importante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payback vem das premissas de modelo (churn 9%, CAC R$140, margem de contribuição ~30%) — ainda não validadas com dados reais. Deve ser apresentado com essa ressalva, e recalculado com os números do piloto (Fase 0).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SEM DEPENDER SÓ DE INVESTIDOR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franquia: o operador local capitaliza o CD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1F3D24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Franqueadora (matriz)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50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apps (cliente + fornecedor)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172968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operacional e treinamento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73989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84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do piloto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011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Franqueado (operador local)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60604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450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do CD local (R$ 275k–580k)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3172968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e capital de giro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373989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584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em 100km e equipe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5E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46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 mil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franquia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47091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5EF"/>
          </a:solidFill>
          <a:ln/>
        </p:spPr>
      </p:sp>
      <p:sp>
        <p:nvSpPr>
          <p:cNvPr id="24" name="Text 22"/>
          <p:cNvSpPr/>
          <p:nvPr/>
        </p:nvSpPr>
        <p:spPr>
          <a:xfrm>
            <a:off x="3410712" y="4846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02152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mensal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receita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72784" y="47091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5EF"/>
          </a:solidFill>
          <a:ln/>
        </p:spPr>
      </p:sp>
      <p:sp>
        <p:nvSpPr>
          <p:cNvPr id="27" name="Text 25"/>
          <p:cNvSpPr/>
          <p:nvPr/>
        </p:nvSpPr>
        <p:spPr>
          <a:xfrm>
            <a:off x="6272784" y="4846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64224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34856" y="47091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5EF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856" y="4846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~15–21m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226296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franqueado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Plano de Negócios &amp; Investimento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 &amp; PRÓXIMOS PASSOS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Viável e escalável — com disciplina de execução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583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Viável: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já validado por 6+ operações no Brasil; matemática unitária saudável (LTV/CAC ~12,9x).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Escalável: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no sentido de playbook replicável praça a praça — não como um software de custo marginal zero.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é a variável decisiva. Validar em Curitiba antes de qualquer expansão.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98080" y="192024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1730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256032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24871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fornecedores em 100km de Curitiba (CNPO)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3182112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83880" y="3108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piloto manual — 50 clientes, 3–5 fornecedores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3803904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0" y="3730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 financeiro mês a mês com dados reais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4425696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83880" y="43525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contratos-padrão com fornecedores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5047488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5047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49743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 capital semente/anjo para o piloto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 ·  joaogcj@gmail.com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2026-08-11T02:28:03Z</dcterms:created>
  <dcterms:modified xsi:type="dcterms:W3CDTF">2026-08-11T02:28:03Z</dcterms:modified>
</cp:coreProperties>
</file>